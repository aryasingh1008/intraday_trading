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2E4DA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1371600"/>
            <a:ext cx="3200400" cy="3200400"/>
          </a:xfrm>
          <a:prstGeom prst="ellipse">
            <a:avLst/>
          </a:prstGeom>
          <a:solidFill>
            <a:srgbClr val="3EC6E0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3EC6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Trading Assistant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423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Intraday Signals  |  AI Chat  |  Portfolio Management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 Lambda + Bedrock + Streamlit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Arya Kirti Singh  |  2024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4008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Built This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23360" cy="164592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868680"/>
            <a:ext cx="4023360" cy="6400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1430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207008"/>
            <a:ext cx="374904" cy="37490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097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Noise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325880" y="1463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scanning of 200+ stocks daily was slow and unreliable — needed automated intelligence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937760" y="868680"/>
            <a:ext cx="4023360" cy="164592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37760" y="868680"/>
            <a:ext cx="4023360" cy="6400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13" name="Shape 10"/>
          <p:cNvSpPr/>
          <p:nvPr/>
        </p:nvSpPr>
        <p:spPr>
          <a:xfrm>
            <a:off x="5166360" y="11430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207008"/>
            <a:ext cx="374904" cy="37490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806440" y="1097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Entries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806440" y="1463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patterns were spotted, the optimal entry window had often closed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57200" y="2788920"/>
            <a:ext cx="4023360" cy="164592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2788920"/>
            <a:ext cx="4023360" cy="6400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19" name="Shape 15"/>
          <p:cNvSpPr/>
          <p:nvPr/>
        </p:nvSpPr>
        <p:spPr>
          <a:xfrm>
            <a:off x="685800" y="3063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127248"/>
            <a:ext cx="374904" cy="37490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Edge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325880" y="3383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12 technical indicators with Bedrock AI validation for higher-confidence signals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937760" y="2788920"/>
            <a:ext cx="4023360" cy="164592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937760" y="2788920"/>
            <a:ext cx="4023360" cy="6400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25" name="Shape 20"/>
          <p:cNvSpPr/>
          <p:nvPr/>
        </p:nvSpPr>
        <p:spPr>
          <a:xfrm>
            <a:off x="5166360" y="3063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368" y="3127248"/>
            <a:ext cx="374904" cy="37490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80644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Discipline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5806440" y="3383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R:R ratio enforcement — never enter a trade without knowing the risk/reward upfront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4008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2697480" cy="13716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777240"/>
            <a:ext cx="2697480" cy="73152"/>
          </a:xfrm>
          <a:prstGeom prst="rect">
            <a:avLst/>
          </a:prstGeom>
          <a:solidFill>
            <a:srgbClr val="2E4DA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960120"/>
            <a:ext cx="457200" cy="457200"/>
          </a:xfrm>
          <a:prstGeom prst="ellipse">
            <a:avLst/>
          </a:prstGeom>
          <a:solidFill>
            <a:srgbClr val="2E4DA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0241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94183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Engine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14356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indicators: RSI, MACD, BB, ATR, OBV, Stoch, ADX, MFI, VWAP, EMA, SMA, RS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00400" y="777240"/>
            <a:ext cx="2697480" cy="13716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777240"/>
            <a:ext cx="2697480" cy="73152"/>
          </a:xfrm>
          <a:prstGeom prst="rect">
            <a:avLst/>
          </a:prstGeom>
          <a:solidFill>
            <a:srgbClr val="1A7A5E"/>
          </a:solidFill>
          <a:ln/>
        </p:spPr>
      </p:sp>
      <p:sp>
        <p:nvSpPr>
          <p:cNvPr id="13" name="Shape 10"/>
          <p:cNvSpPr/>
          <p:nvPr/>
        </p:nvSpPr>
        <p:spPr>
          <a:xfrm>
            <a:off x="3383280" y="960120"/>
            <a:ext cx="457200" cy="457200"/>
          </a:xfrm>
          <a:prstGeom prst="ellipse">
            <a:avLst/>
          </a:prstGeom>
          <a:solidFill>
            <a:srgbClr val="1A7A5E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102412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977640" y="94183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Validation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14356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validates every signal — confirms or rejects with reasoning &amp; confidence score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35040" y="777240"/>
            <a:ext cx="2697480" cy="13716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035040" y="777240"/>
            <a:ext cx="2697480" cy="73152"/>
          </a:xfrm>
          <a:prstGeom prst="rect">
            <a:avLst/>
          </a:prstGeom>
          <a:solidFill>
            <a:srgbClr val="6B3A9E"/>
          </a:solidFill>
          <a:ln/>
        </p:spPr>
      </p:sp>
      <p:sp>
        <p:nvSpPr>
          <p:cNvPr id="19" name="Shape 15"/>
          <p:cNvSpPr/>
          <p:nvPr/>
        </p:nvSpPr>
        <p:spPr>
          <a:xfrm>
            <a:off x="6217920" y="960120"/>
            <a:ext cx="457200" cy="457200"/>
          </a:xfrm>
          <a:prstGeom prst="ellipse">
            <a:avLst/>
          </a:prstGeom>
          <a:solidFill>
            <a:srgbClr val="6B3A9E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024128"/>
            <a:ext cx="329184" cy="32918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812280" y="94183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Strip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217920" y="14356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50, BANKNIFTY, VIX always visible — live prices via direct Yahoo Finance v8 API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365760" y="2377440"/>
            <a:ext cx="2697480" cy="13716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65760" y="2377440"/>
            <a:ext cx="2697480" cy="73152"/>
          </a:xfrm>
          <a:prstGeom prst="rect">
            <a:avLst/>
          </a:prstGeom>
          <a:solidFill>
            <a:srgbClr val="8B4A1A"/>
          </a:solidFill>
          <a:ln/>
        </p:spPr>
      </p:sp>
      <p:sp>
        <p:nvSpPr>
          <p:cNvPr id="25" name="Shape 20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8B4A1A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624328"/>
            <a:ext cx="329184" cy="32918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143000" y="254203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Tools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548640" y="30358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watchlist, trade log, performance metrics — all isolated per Cognito user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3200400" y="2377440"/>
            <a:ext cx="2697480" cy="13716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200400" y="2377440"/>
            <a:ext cx="2697480" cy="73152"/>
          </a:xfrm>
          <a:prstGeom prst="rect">
            <a:avLst/>
          </a:prstGeom>
          <a:solidFill>
            <a:srgbClr val="1A5C8B"/>
          </a:solidFill>
          <a:ln/>
        </p:spPr>
      </p:sp>
      <p:sp>
        <p:nvSpPr>
          <p:cNvPr id="31" name="Shape 25"/>
          <p:cNvSpPr/>
          <p:nvPr/>
        </p:nvSpPr>
        <p:spPr>
          <a:xfrm>
            <a:off x="3383280" y="2560320"/>
            <a:ext cx="457200" cy="457200"/>
          </a:xfrm>
          <a:prstGeom prst="ellipse">
            <a:avLst/>
          </a:prstGeom>
          <a:solidFill>
            <a:srgbClr val="1A5C8B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7288" y="2624328"/>
            <a:ext cx="329184" cy="32918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977640" y="254203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Data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3383280" y="30358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 pulls live quotes, processes signals, stores results in DynamoDB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6035040" y="2377440"/>
            <a:ext cx="2697480" cy="13716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6035040" y="2377440"/>
            <a:ext cx="2697480" cy="73152"/>
          </a:xfrm>
          <a:prstGeom prst="rect">
            <a:avLst/>
          </a:prstGeom>
          <a:solidFill>
            <a:srgbClr val="5A1A6E"/>
          </a:solidFill>
          <a:ln/>
        </p:spPr>
      </p:sp>
      <p:sp>
        <p:nvSpPr>
          <p:cNvPr id="37" name="Shape 30"/>
          <p:cNvSpPr/>
          <p:nvPr/>
        </p:nvSpPr>
        <p:spPr>
          <a:xfrm>
            <a:off x="6217920" y="2560320"/>
            <a:ext cx="457200" cy="457200"/>
          </a:xfrm>
          <a:prstGeom prst="ellipse">
            <a:avLst/>
          </a:prstGeom>
          <a:solidFill>
            <a:srgbClr val="5A1A6E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2624328"/>
            <a:ext cx="329184" cy="329184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6812280" y="254203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R:R Badges</a:t>
            </a:r>
            <a:endParaRPr lang="en-US" sz="1300" dirty="0"/>
          </a:p>
        </p:txBody>
      </p:sp>
      <p:sp>
        <p:nvSpPr>
          <p:cNvPr id="40" name="Text 32"/>
          <p:cNvSpPr/>
          <p:nvPr/>
        </p:nvSpPr>
        <p:spPr>
          <a:xfrm>
            <a:off x="6217920" y="303580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stock card shows Risk:Reward ratio — colour-coded green/amber/red for quick decisions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4008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Algorithm — 12 Indicators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7498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680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54480" y="7680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Overbought/oversold momentum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7498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10" name="Shape 8"/>
          <p:cNvSpPr/>
          <p:nvPr/>
        </p:nvSpPr>
        <p:spPr>
          <a:xfrm>
            <a:off x="3337560" y="7498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7680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7680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momentum crossover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12070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2070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2252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Bollinger Bands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554480" y="12252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squeeze signals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37560" y="12070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18" name="Shape 16"/>
          <p:cNvSpPr/>
          <p:nvPr/>
        </p:nvSpPr>
        <p:spPr>
          <a:xfrm>
            <a:off x="3337560" y="12070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0" y="12252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12252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range for stop-loss sizing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16642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16642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16824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OBV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54480" y="16824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confirms price moves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337560" y="16642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26" name="Shape 24"/>
          <p:cNvSpPr/>
          <p:nvPr/>
        </p:nvSpPr>
        <p:spPr>
          <a:xfrm>
            <a:off x="3337560" y="16642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16824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0" y="16824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K/D oscillator divergence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21214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21214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21396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ADX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554480" y="21396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strength filter (&gt;25)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337560" y="21214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34" name="Shape 32"/>
          <p:cNvSpPr/>
          <p:nvPr/>
        </p:nvSpPr>
        <p:spPr>
          <a:xfrm>
            <a:off x="3337560" y="21214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35" name="Text 33"/>
          <p:cNvSpPr/>
          <p:nvPr/>
        </p:nvSpPr>
        <p:spPr>
          <a:xfrm>
            <a:off x="3474720" y="21396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MFI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0" y="21396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Flow Index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20040" y="25786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38" name="Shape 36"/>
          <p:cNvSpPr/>
          <p:nvPr/>
        </p:nvSpPr>
        <p:spPr>
          <a:xfrm>
            <a:off x="320040" y="25786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25968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VWAP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554480" y="25968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Volume-weighted anchor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337560" y="25786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42" name="Shape 40"/>
          <p:cNvSpPr/>
          <p:nvPr/>
        </p:nvSpPr>
        <p:spPr>
          <a:xfrm>
            <a:off x="3337560" y="25786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3" name="Text 41"/>
          <p:cNvSpPr/>
          <p:nvPr/>
        </p:nvSpPr>
        <p:spPr>
          <a:xfrm>
            <a:off x="3474720" y="25968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 9/21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572000" y="25968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trend direction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0040" y="30358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46" name="Shape 44"/>
          <p:cNvSpPr/>
          <p:nvPr/>
        </p:nvSpPr>
        <p:spPr>
          <a:xfrm>
            <a:off x="320040" y="30358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30540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 50/200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554480" y="30540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trend regime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337560" y="3035808"/>
            <a:ext cx="2834640" cy="384048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50" name="Shape 48"/>
          <p:cNvSpPr/>
          <p:nvPr/>
        </p:nvSpPr>
        <p:spPr>
          <a:xfrm>
            <a:off x="3337560" y="3035808"/>
            <a:ext cx="54864" cy="38404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51" name="Text 49"/>
          <p:cNvSpPr/>
          <p:nvPr/>
        </p:nvSpPr>
        <p:spPr>
          <a:xfrm>
            <a:off x="3474720" y="30540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Ratio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572000" y="30540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(1+stock)/(1+nifty) vs benchmark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55080" y="749808"/>
            <a:ext cx="2468880" cy="416052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127000" dist="50800" dir="8100000">
              <a:srgbClr val="000000">
                <a:alpha val="25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355080" y="749808"/>
            <a:ext cx="2468880" cy="54864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55" name="Text 53"/>
          <p:cNvSpPr/>
          <p:nvPr/>
        </p:nvSpPr>
        <p:spPr>
          <a:xfrm>
            <a:off x="6492240" y="822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Logic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6492240" y="1325880"/>
            <a:ext cx="2194560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7" name="Shape 55"/>
          <p:cNvSpPr/>
          <p:nvPr/>
        </p:nvSpPr>
        <p:spPr>
          <a:xfrm>
            <a:off x="6492240" y="1325880"/>
            <a:ext cx="54864" cy="475488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8" name="Text 56"/>
          <p:cNvSpPr/>
          <p:nvPr/>
        </p:nvSpPr>
        <p:spPr>
          <a:xfrm>
            <a:off x="6629400" y="1325880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8-12 pts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7360920" y="13258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BUY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92240" y="1892808"/>
            <a:ext cx="2194560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1" name="Shape 59"/>
          <p:cNvSpPr/>
          <p:nvPr/>
        </p:nvSpPr>
        <p:spPr>
          <a:xfrm>
            <a:off x="6492240" y="1892808"/>
            <a:ext cx="54864" cy="47548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62" name="Text 60"/>
          <p:cNvSpPr/>
          <p:nvPr/>
        </p:nvSpPr>
        <p:spPr>
          <a:xfrm>
            <a:off x="6629400" y="1892808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 pts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7360920" y="18928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92240" y="2459736"/>
            <a:ext cx="2194560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5" name="Shape 63"/>
          <p:cNvSpPr/>
          <p:nvPr/>
        </p:nvSpPr>
        <p:spPr>
          <a:xfrm>
            <a:off x="6492240" y="2459736"/>
            <a:ext cx="54864" cy="475488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66" name="Text 64"/>
          <p:cNvSpPr/>
          <p:nvPr/>
        </p:nvSpPr>
        <p:spPr>
          <a:xfrm>
            <a:off x="6629400" y="2459736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pts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7360920" y="245973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492240" y="3026664"/>
            <a:ext cx="2194560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9" name="Shape 67"/>
          <p:cNvSpPr/>
          <p:nvPr/>
        </p:nvSpPr>
        <p:spPr>
          <a:xfrm>
            <a:off x="6492240" y="3026664"/>
            <a:ext cx="54864" cy="47548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70" name="Text 68"/>
          <p:cNvSpPr/>
          <p:nvPr/>
        </p:nvSpPr>
        <p:spPr>
          <a:xfrm>
            <a:off x="6629400" y="3026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pts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7360920" y="302666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92240" y="3593592"/>
            <a:ext cx="2194560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3" name="Shape 71"/>
          <p:cNvSpPr/>
          <p:nvPr/>
        </p:nvSpPr>
        <p:spPr>
          <a:xfrm>
            <a:off x="6492240" y="3593592"/>
            <a:ext cx="54864" cy="475488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4" name="Text 72"/>
          <p:cNvSpPr/>
          <p:nvPr/>
        </p:nvSpPr>
        <p:spPr>
          <a:xfrm>
            <a:off x="6629400" y="359359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pts</a:t>
            </a:r>
            <a:endParaRPr lang="en-US" sz="1400" dirty="0"/>
          </a:p>
        </p:txBody>
      </p:sp>
      <p:sp>
        <p:nvSpPr>
          <p:cNvPr id="75" name="Text 73"/>
          <p:cNvSpPr/>
          <p:nvPr/>
        </p:nvSpPr>
        <p:spPr>
          <a:xfrm>
            <a:off x="7360920" y="359359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SELL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6492240" y="42062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AI Validation (Bedrock Claude Haiku)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 added to final rank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4008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914400"/>
          </a:xfrm>
          <a:prstGeom prst="rect">
            <a:avLst/>
          </a:prstGeom>
          <a:solidFill>
            <a:srgbClr val="2E4DA7">
              <a:alpha val="85000"/>
            </a:srgbClr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777240"/>
            <a:ext cx="1371600" cy="914400"/>
          </a:xfrm>
          <a:prstGeom prst="rect">
            <a:avLst/>
          </a:prstGeom>
          <a:solidFill>
            <a:srgbClr val="2E4DA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78408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47472" y="137160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828800" y="100584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1892808" y="102412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493008" y="100584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2" name="Text 9"/>
          <p:cNvSpPr/>
          <p:nvPr/>
        </p:nvSpPr>
        <p:spPr>
          <a:xfrm>
            <a:off x="3557016" y="102412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Strip (NIFTY/BANKNIFTY/VIX)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157216" y="100584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5221224" y="102412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Dashboard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821424" y="100584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6885432" y="102412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8485632" y="100584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8549640" y="102412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20040" y="1874520"/>
            <a:ext cx="8503920" cy="914400"/>
          </a:xfrm>
          <a:prstGeom prst="rect">
            <a:avLst/>
          </a:prstGeom>
          <a:solidFill>
            <a:srgbClr val="1A7A5E">
              <a:alpha val="85000"/>
            </a:srgbClr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20040" y="1874520"/>
            <a:ext cx="1371600" cy="914400"/>
          </a:xfrm>
          <a:prstGeom prst="rect">
            <a:avLst/>
          </a:prstGeom>
          <a:solidFill>
            <a:srgbClr val="1A7A5E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2075688"/>
            <a:ext cx="411480" cy="4114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47472" y="24688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1828800" y="210312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24" name="Text 20"/>
          <p:cNvSpPr/>
          <p:nvPr/>
        </p:nvSpPr>
        <p:spPr>
          <a:xfrm>
            <a:off x="1892808" y="212140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Engine (12 indicators)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3493008" y="210312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26" name="Text 22"/>
          <p:cNvSpPr/>
          <p:nvPr/>
        </p:nvSpPr>
        <p:spPr>
          <a:xfrm>
            <a:off x="3557016" y="212140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Validator (Bedrock Haiku)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157216" y="210312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28" name="Text 24"/>
          <p:cNvSpPr/>
          <p:nvPr/>
        </p:nvSpPr>
        <p:spPr>
          <a:xfrm>
            <a:off x="5221224" y="212140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Agent (Nova Micro)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821424" y="210312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30" name="Text 26"/>
          <p:cNvSpPr/>
          <p:nvPr/>
        </p:nvSpPr>
        <p:spPr>
          <a:xfrm>
            <a:off x="6885432" y="212140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v8 API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320040" y="2971800"/>
            <a:ext cx="8503920" cy="914400"/>
          </a:xfrm>
          <a:prstGeom prst="rect">
            <a:avLst/>
          </a:prstGeom>
          <a:solidFill>
            <a:srgbClr val="6B3A9E">
              <a:alpha val="85000"/>
            </a:srgbClr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320040" y="2971800"/>
            <a:ext cx="1371600" cy="914400"/>
          </a:xfrm>
          <a:prstGeom prst="rect">
            <a:avLst/>
          </a:prstGeom>
          <a:solidFill>
            <a:srgbClr val="6B3A9E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3172968"/>
            <a:ext cx="411480" cy="41148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347472" y="356616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1828800" y="32004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36" name="Text 31"/>
          <p:cNvSpPr/>
          <p:nvPr/>
        </p:nvSpPr>
        <p:spPr>
          <a:xfrm>
            <a:off x="1892808" y="321868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— signals &amp; portfolio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3493008" y="32004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38" name="Text 33"/>
          <p:cNvSpPr/>
          <p:nvPr/>
        </p:nvSpPr>
        <p:spPr>
          <a:xfrm>
            <a:off x="3557016" y="321868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— historical data cache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5157216" y="32004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40" name="Text 35"/>
          <p:cNvSpPr/>
          <p:nvPr/>
        </p:nvSpPr>
        <p:spPr>
          <a:xfrm>
            <a:off x="5221224" y="321868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— JWT auth, per-user isolation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6821424" y="320040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42" name="Text 37"/>
          <p:cNvSpPr/>
          <p:nvPr/>
        </p:nvSpPr>
        <p:spPr>
          <a:xfrm>
            <a:off x="6885432" y="3218688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— scheduled triggers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320040" y="4069080"/>
            <a:ext cx="8503920" cy="777240"/>
          </a:xfrm>
          <a:prstGeom prst="rect">
            <a:avLst/>
          </a:prstGeom>
          <a:solidFill>
            <a:srgbClr val="141B3D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51960"/>
            <a:ext cx="411480" cy="411480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51560" y="4069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Security: </a:t>
            </a:r>
            <a:endParaRPr lang="en-US" sz="1200" dirty="0"/>
          </a:p>
        </p:txBody>
      </p:sp>
      <p:sp>
        <p:nvSpPr>
          <p:cNvPr id="46" name="Text 40"/>
          <p:cNvSpPr/>
          <p:nvPr/>
        </p:nvSpPr>
        <p:spPr>
          <a:xfrm>
            <a:off x="2423160" y="406908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JWT tokens — per-user DynamoDB isolation. Email verification required. All Lambda calls are signed AWS API requests.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4008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 — Ask the Market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49040" y="822960"/>
            <a:ext cx="5029200" cy="822960"/>
          </a:xfrm>
          <a:prstGeom prst="roundRect">
            <a:avLst>
              <a:gd name="adj" fmla="val 13333"/>
            </a:avLst>
          </a:prstGeom>
          <a:solidFill>
            <a:srgbClr val="2E4DA7"/>
          </a:solidFill>
          <a:ln/>
        </p:spPr>
      </p:sp>
      <p:sp>
        <p:nvSpPr>
          <p:cNvPr id="6" name="Text 4"/>
          <p:cNvSpPr/>
          <p:nvPr/>
        </p:nvSpPr>
        <p:spPr>
          <a:xfrm>
            <a:off x="3913632" y="86868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913632" y="107899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RELIANCE showing a STRONG BUY?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1783080"/>
            <a:ext cx="5029200" cy="822960"/>
          </a:xfrm>
          <a:prstGeom prst="roundRect">
            <a:avLst>
              <a:gd name="adj" fmla="val 13333"/>
            </a:avLst>
          </a:prstGeom>
          <a:solidFill>
            <a:srgbClr val="1A2456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182880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30352" y="203911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is up 2.3% on OBV surge with RSI at 58 (momentum). MACD crossed bullish 3 bars ago. RS Ratio vs NIFTY is 1.04 — outperforming. Entry: 2847, Target: 2940, Stop: 2800.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49040" y="2743200"/>
            <a:ext cx="5029200" cy="822960"/>
          </a:xfrm>
          <a:prstGeom prst="roundRect">
            <a:avLst>
              <a:gd name="adj" fmla="val 13333"/>
            </a:avLst>
          </a:prstGeom>
          <a:solidFill>
            <a:srgbClr val="2E4DA7"/>
          </a:solidFill>
          <a:ln/>
        </p:spPr>
      </p:sp>
      <p:sp>
        <p:nvSpPr>
          <p:cNvPr id="12" name="Text 10"/>
          <p:cNvSpPr/>
          <p:nvPr/>
        </p:nvSpPr>
        <p:spPr>
          <a:xfrm>
            <a:off x="3913632" y="278892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913632" y="29992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market sentiment today?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703320"/>
            <a:ext cx="5029200" cy="822960"/>
          </a:xfrm>
          <a:prstGeom prst="roundRect">
            <a:avLst>
              <a:gd name="adj" fmla="val 13333"/>
            </a:avLst>
          </a:prstGeom>
          <a:solidFill>
            <a:srgbClr val="1A2456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37490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30352" y="395935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+0.8% | BANKNIFTY +1.1% | VIX 13.2 (calm). 68% of scanned stocks show bullish bias. Sector leaders: IT, Banking.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0" y="777240"/>
            <a:ext cx="3337560" cy="41148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127000" dist="508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69280" y="868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4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256032" cy="2560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989320" y="1371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explanations with indicator breakdown</a:t>
            </a:r>
            <a:endParaRPr lang="en-US" sz="11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74520"/>
            <a:ext cx="256032" cy="25603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989320" y="18745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context using index strip data</a:t>
            </a:r>
            <a:endParaRPr lang="en-US" sz="11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37744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989320" y="23774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analysis &amp; trade reviews</a:t>
            </a:r>
            <a:endParaRPr lang="en-US" sz="11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880360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989320" y="28803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per position</a:t>
            </a:r>
            <a:endParaRPr lang="en-US" sz="11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3383280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989320" y="33832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Claude 3.5 Sonnet backbone</a:t>
            </a:r>
            <a:endParaRPr lang="en-US" sz="110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3886200"/>
            <a:ext cx="256032" cy="25603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989320" y="3886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Cognito-isolated chat history per user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4008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&amp; Wishlist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4206240" cy="41148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127000" dist="508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777240"/>
            <a:ext cx="4206240" cy="64008"/>
          </a:xfrm>
          <a:prstGeom prst="rect">
            <a:avLst/>
          </a:prstGeom>
          <a:solidFill>
            <a:srgbClr val="2E4DA7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914400"/>
            <a:ext cx="502920" cy="502920"/>
          </a:xfrm>
          <a:prstGeom prst="ellipse">
            <a:avLst/>
          </a:prstGeom>
          <a:solidFill>
            <a:srgbClr val="2E4DA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969264"/>
            <a:ext cx="374904" cy="37490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914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Tracker</a:t>
            </a:r>
            <a:endParaRPr lang="en-US" sz="16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72768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157276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trades with entry price, quantity, date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2140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4400" y="21214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P&amp;L calculated against current price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70048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267004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Per-trade return % and absolute gain/loss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218688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4400" y="32186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for tax/reconciliation</a:t>
            </a:r>
            <a:endParaRPr lang="en-US" sz="12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67328"/>
            <a:ext cx="256032" cy="25603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14400" y="376732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isolated per Cognito user</a:t>
            </a:r>
            <a:endParaRPr lang="en-US" sz="1200" dirty="0"/>
          </a:p>
        </p:txBody>
      </p:sp>
      <p:sp>
        <p:nvSpPr>
          <p:cNvPr id="20" name="Shape 12"/>
          <p:cNvSpPr/>
          <p:nvPr/>
        </p:nvSpPr>
        <p:spPr>
          <a:xfrm>
            <a:off x="4709160" y="777240"/>
            <a:ext cx="4206240" cy="41148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127000" dist="50800" dir="8100000">
              <a:srgbClr val="000000">
                <a:alpha val="25000"/>
              </a:srgbClr>
            </a:outerShdw>
          </a:effectLst>
        </p:spPr>
      </p:sp>
      <p:sp>
        <p:nvSpPr>
          <p:cNvPr id="21" name="Shape 13"/>
          <p:cNvSpPr/>
          <p:nvPr/>
        </p:nvSpPr>
        <p:spPr>
          <a:xfrm>
            <a:off x="4709160" y="777240"/>
            <a:ext cx="4206240" cy="64008"/>
          </a:xfrm>
          <a:prstGeom prst="rect">
            <a:avLst/>
          </a:prstGeom>
          <a:solidFill>
            <a:srgbClr val="6B3A9E"/>
          </a:solidFill>
          <a:ln/>
        </p:spPr>
      </p:sp>
      <p:sp>
        <p:nvSpPr>
          <p:cNvPr id="22" name="Shape 14"/>
          <p:cNvSpPr/>
          <p:nvPr/>
        </p:nvSpPr>
        <p:spPr>
          <a:xfrm>
            <a:off x="4892040" y="914400"/>
            <a:ext cx="502920" cy="502920"/>
          </a:xfrm>
          <a:prstGeom prst="ellipse">
            <a:avLst/>
          </a:prstGeom>
          <a:solidFill>
            <a:srgbClr val="6B3A9E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6048" y="969264"/>
            <a:ext cx="374904" cy="374904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532120" y="914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(Watchlist)</a:t>
            </a:r>
            <a:endParaRPr lang="en-US" sz="16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1572768"/>
            <a:ext cx="256032" cy="256032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5303520" y="157276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any NSE stock to personal watchlist</a:t>
            </a:r>
            <a:endParaRPr lang="en-US" sz="12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2121408"/>
            <a:ext cx="256032" cy="256032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5303520" y="21214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signal updates every 5 minutes</a:t>
            </a:r>
            <a:endParaRPr lang="en-US" sz="120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7760" y="2670048"/>
            <a:ext cx="256032" cy="256032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5303520" y="267004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Quick-access from main dashboard</a:t>
            </a:r>
            <a:endParaRPr lang="en-US" sz="120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7760" y="3218688"/>
            <a:ext cx="256032" cy="256032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5303520" y="32186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signals trigger push summary</a:t>
            </a:r>
            <a:endParaRPr lang="en-US" sz="1200" dirty="0"/>
          </a:p>
        </p:txBody>
      </p:sp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37760" y="3767328"/>
            <a:ext cx="256032" cy="256032"/>
          </a:xfrm>
          <a:prstGeom prst="rect">
            <a:avLst/>
          </a:prstGeom>
        </p:spPr>
      </p:pic>
      <p:sp>
        <p:nvSpPr>
          <p:cNvPr id="34" name="Text 20"/>
          <p:cNvSpPr/>
          <p:nvPr/>
        </p:nvSpPr>
        <p:spPr>
          <a:xfrm>
            <a:off x="5303520" y="376732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isolation via JWT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4008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1280160" cy="713232"/>
          </a:xfrm>
          <a:prstGeom prst="rect">
            <a:avLst/>
          </a:prstGeom>
          <a:solidFill>
            <a:srgbClr val="2E4DA7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04672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600200" y="804672"/>
            <a:ext cx="7315200" cy="713232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8" name="Shape 6"/>
          <p:cNvSpPr/>
          <p:nvPr/>
        </p:nvSpPr>
        <p:spPr>
          <a:xfrm>
            <a:off x="1828800" y="932688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1901952" y="932688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0" y="932688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730752" y="932688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0" y="932688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559552" y="932688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5200" y="932688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7388352" y="932688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Boto3 SDK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1645920"/>
            <a:ext cx="1280160" cy="713232"/>
          </a:xfrm>
          <a:prstGeom prst="rect">
            <a:avLst/>
          </a:prstGeom>
          <a:solidFill>
            <a:srgbClr val="1A7A5E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164592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600200" y="1645920"/>
            <a:ext cx="7315200" cy="713232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28800" y="1773936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901952" y="1773936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0" y="1773936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3730752" y="1773936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0" y="1773936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5559552" y="1773936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 / Yahoo v8 API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315200" y="1773936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7388352" y="1773936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/ numpy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2487168"/>
            <a:ext cx="1280160" cy="713232"/>
          </a:xfrm>
          <a:prstGeom prst="rect">
            <a:avLst/>
          </a:prstGeom>
          <a:solidFill>
            <a:srgbClr val="6B3A9E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" y="2487168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600200" y="2487168"/>
            <a:ext cx="7315200" cy="713232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30" name="Shape 28"/>
          <p:cNvSpPr/>
          <p:nvPr/>
        </p:nvSpPr>
        <p:spPr>
          <a:xfrm>
            <a:off x="1828800" y="2615184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1901952" y="2615184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Claude 3.5 Sonnet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657600" y="2615184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3730752" y="2615184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(validator)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0" y="2615184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35" name="Text 33"/>
          <p:cNvSpPr/>
          <p:nvPr/>
        </p:nvSpPr>
        <p:spPr>
          <a:xfrm>
            <a:off x="5559552" y="2615184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Micro (sentiment)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315200" y="2615184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37" name="Text 35"/>
          <p:cNvSpPr/>
          <p:nvPr/>
        </p:nvSpPr>
        <p:spPr>
          <a:xfrm>
            <a:off x="7388352" y="2615184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3328416"/>
            <a:ext cx="1280160" cy="713232"/>
          </a:xfrm>
          <a:prstGeom prst="rect">
            <a:avLst/>
          </a:prstGeom>
          <a:solidFill>
            <a:srgbClr val="8B4A1A"/>
          </a:solidFill>
          <a:ln/>
        </p:spPr>
      </p:sp>
      <p:sp>
        <p:nvSpPr>
          <p:cNvPr id="39" name="Text 37"/>
          <p:cNvSpPr/>
          <p:nvPr/>
        </p:nvSpPr>
        <p:spPr>
          <a:xfrm>
            <a:off x="320040" y="3328416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Auth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600200" y="3328416"/>
            <a:ext cx="7315200" cy="713232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41" name="Shape 39"/>
          <p:cNvSpPr/>
          <p:nvPr/>
        </p:nvSpPr>
        <p:spPr>
          <a:xfrm>
            <a:off x="1828800" y="3456432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42" name="Text 40"/>
          <p:cNvSpPr/>
          <p:nvPr/>
        </p:nvSpPr>
        <p:spPr>
          <a:xfrm>
            <a:off x="1901952" y="3456432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657600" y="3456432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44" name="Text 42"/>
          <p:cNvSpPr/>
          <p:nvPr/>
        </p:nvSpPr>
        <p:spPr>
          <a:xfrm>
            <a:off x="3730752" y="3456432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0" y="3456432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46" name="Text 44"/>
          <p:cNvSpPr/>
          <p:nvPr/>
        </p:nvSpPr>
        <p:spPr>
          <a:xfrm>
            <a:off x="5559552" y="3456432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(JWT)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315200" y="3456432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48" name="Text 46"/>
          <p:cNvSpPr/>
          <p:nvPr/>
        </p:nvSpPr>
        <p:spPr>
          <a:xfrm>
            <a:off x="7388352" y="3456432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cron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20040" y="4169664"/>
            <a:ext cx="1280160" cy="713232"/>
          </a:xfrm>
          <a:prstGeom prst="rect">
            <a:avLst/>
          </a:prstGeom>
          <a:solidFill>
            <a:srgbClr val="1A5C8B"/>
          </a:solidFill>
          <a:ln/>
        </p:spPr>
      </p:sp>
      <p:sp>
        <p:nvSpPr>
          <p:cNvPr id="50" name="Text 48"/>
          <p:cNvSpPr/>
          <p:nvPr/>
        </p:nvSpPr>
        <p:spPr>
          <a:xfrm>
            <a:off x="320040" y="4169664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/ CI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600200" y="4169664"/>
            <a:ext cx="7315200" cy="713232"/>
          </a:xfrm>
          <a:prstGeom prst="rect">
            <a:avLst/>
          </a:prstGeom>
          <a:solidFill>
            <a:srgbClr val="1A2456"/>
          </a:solidFill>
          <a:ln/>
        </p:spPr>
      </p:sp>
      <p:sp>
        <p:nvSpPr>
          <p:cNvPr id="52" name="Shape 50"/>
          <p:cNvSpPr/>
          <p:nvPr/>
        </p:nvSpPr>
        <p:spPr>
          <a:xfrm>
            <a:off x="1828800" y="4297680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1901952" y="429768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(IaC)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0" y="4297680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5" name="Text 53"/>
          <p:cNvSpPr/>
          <p:nvPr/>
        </p:nvSpPr>
        <p:spPr>
          <a:xfrm>
            <a:off x="3730752" y="429768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486400" y="4297680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7" name="Text 55"/>
          <p:cNvSpPr/>
          <p:nvPr/>
        </p:nvSpPr>
        <p:spPr>
          <a:xfrm>
            <a:off x="5559552" y="429768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layers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7315200" y="4297680"/>
            <a:ext cx="1600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9" name="Text 57"/>
          <p:cNvSpPr/>
          <p:nvPr/>
        </p:nvSpPr>
        <p:spPr>
          <a:xfrm>
            <a:off x="7388352" y="4297680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logs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4008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Scalability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804672"/>
            <a:ext cx="1828800" cy="13716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804672"/>
            <a:ext cx="1828800" cy="6400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144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162763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804672"/>
            <a:ext cx="1828800" cy="13716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60320" y="804672"/>
            <a:ext cx="1828800" cy="6400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9144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560320" y="162763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cold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p95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804672"/>
            <a:ext cx="1828800" cy="13716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04672"/>
            <a:ext cx="1828800" cy="64008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9144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663440" y="162763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 scanned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cycle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804672"/>
            <a:ext cx="1828800" cy="137160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0" y="804672"/>
            <a:ext cx="1828800" cy="6400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9144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766560" y="162763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refresh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423160"/>
            <a:ext cx="3931920" cy="100584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1792" y="267919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43200"/>
            <a:ext cx="347472" cy="34747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234440" y="24963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by design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3444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+ DynamoDB auto-scales — no idle EC2 costs. Pay only per invocation.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846320" y="2423160"/>
            <a:ext cx="3931920" cy="100584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010912" y="267919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743200"/>
            <a:ext cx="347472" cy="347472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623560" y="24963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on-demand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62356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capacity planning. Handles 1 user or 1,000 users with same infrastructure.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457200" y="3611880"/>
            <a:ext cx="3931920" cy="100584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21792" y="386791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31920"/>
            <a:ext cx="347472" cy="347472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234440" y="368503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scans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1234440" y="4050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cron triggers Lambda every 5 min during market hours (9:15–15:30 IST).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846320" y="3611880"/>
            <a:ext cx="3931920" cy="100584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5010912" y="386791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931920"/>
            <a:ext cx="347472" cy="347472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5623560" y="368503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ceiling</a:t>
            </a:r>
            <a:endParaRPr lang="en-US" sz="1300" dirty="0"/>
          </a:p>
        </p:txBody>
      </p:sp>
      <p:sp>
        <p:nvSpPr>
          <p:cNvPr id="40" name="Text 34"/>
          <p:cNvSpPr/>
          <p:nvPr/>
        </p:nvSpPr>
        <p:spPr>
          <a:xfrm>
            <a:off x="5623560" y="4050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covers most usage. AWS Budgets alert set at $10/month threshold.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4008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Market Intelligence Strip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685800"/>
          </a:xfrm>
          <a:prstGeom prst="rect">
            <a:avLst/>
          </a:prstGeom>
          <a:solidFill>
            <a:srgbClr val="141B3D"/>
          </a:solidFill>
          <a:ln/>
          <a:effectLst>
            <a:outerShdw sx="100000" sy="100000" kx="0" ky="0" algn="bl" rotWithShape="0" blurRad="127000" dist="508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868680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8869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50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4360" y="10789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24,531.50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463040" y="886968"/>
            <a:ext cx="1371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+0.82%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56032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246120" y="88696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BANKNIFTY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46120" y="10789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52,140.30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43400" y="886968"/>
            <a:ext cx="12801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+1.14%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897880" y="86868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989320" y="8869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VIX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989320" y="10789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13.24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886968"/>
            <a:ext cx="7772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+2.1%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63840" y="886968"/>
            <a:ext cx="868680" cy="466344"/>
          </a:xfrm>
          <a:prstGeom prst="roundRect">
            <a:avLst>
              <a:gd name="adj" fmla="val 15686"/>
            </a:avLst>
          </a:prstGeom>
          <a:solidFill>
            <a:srgbClr val="1A2456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0" y="88696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863840" y="11155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1691640"/>
            <a:ext cx="4114800" cy="123444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" y="203911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103120"/>
            <a:ext cx="347472" cy="34747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124712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Visible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124712" y="220370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strip is pinned in the Streamlit header — visible on every page of the app without scrolling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709160" y="1691640"/>
            <a:ext cx="4114800" cy="123444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892040" y="203911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103120"/>
            <a:ext cx="347472" cy="347472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513832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Sub-3s Response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5513832" y="220370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Yahoo Finance v8 API calls from Lambda — no yfinance library overhead that caused timeouts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320040" y="3108960"/>
            <a:ext cx="4114800" cy="123444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502920" y="345643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20440"/>
            <a:ext cx="347472" cy="347472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124712" y="32461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Market-Aware Display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1124712" y="362102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last close price when market is closed. Switches to live price automatically during 9:15–15:30 IST trading hours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709160" y="3108960"/>
            <a:ext cx="4114800" cy="123444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4892040" y="345643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520440"/>
            <a:ext cx="347472" cy="347472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5513832" y="32461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Colour-Coded Moves</a:t>
            </a:r>
            <a:endParaRPr lang="en-US" sz="1400" dirty="0"/>
          </a:p>
        </p:txBody>
      </p:sp>
      <p:sp>
        <p:nvSpPr>
          <p:cNvPr id="40" name="Text 34"/>
          <p:cNvSpPr/>
          <p:nvPr/>
        </p:nvSpPr>
        <p:spPr>
          <a:xfrm>
            <a:off x="5513832" y="362102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shown in green (up) or red (down) — instant visual context without reading the numbers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4008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Dashboard — At a Glance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298448" cy="118872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777240"/>
            <a:ext cx="1298448" cy="64008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8696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65760" y="144475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BUY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746504" y="777240"/>
            <a:ext cx="1298448" cy="118872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746504" y="777240"/>
            <a:ext cx="1298448" cy="6400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746504" y="88696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792224" y="144475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72968" y="777240"/>
            <a:ext cx="1298448" cy="118872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72968" y="777240"/>
            <a:ext cx="1298448" cy="64008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5" name="Text 13"/>
          <p:cNvSpPr/>
          <p:nvPr/>
        </p:nvSpPr>
        <p:spPr>
          <a:xfrm>
            <a:off x="3172968" y="88696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218688" y="144475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99432" y="777240"/>
            <a:ext cx="1298448" cy="118872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99432" y="777240"/>
            <a:ext cx="1298448" cy="6400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9" name="Text 17"/>
          <p:cNvSpPr/>
          <p:nvPr/>
        </p:nvSpPr>
        <p:spPr>
          <a:xfrm>
            <a:off x="4599432" y="88696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4645152" y="144475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025896" y="777240"/>
            <a:ext cx="1298448" cy="118872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25896" y="777240"/>
            <a:ext cx="1298448" cy="64008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6025896" y="88696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071616" y="144475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SELL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452360" y="777240"/>
            <a:ext cx="1298448" cy="1188720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52360" y="777240"/>
            <a:ext cx="1298448" cy="64008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27" name="Text 25"/>
          <p:cNvSpPr/>
          <p:nvPr/>
        </p:nvSpPr>
        <p:spPr>
          <a:xfrm>
            <a:off x="7452360" y="886968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7498080" y="144475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AI Score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20040" y="2121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Movers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0040" y="2468880"/>
            <a:ext cx="8503920" cy="54864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1" name="Shape 29"/>
          <p:cNvSpPr/>
          <p:nvPr/>
        </p:nvSpPr>
        <p:spPr>
          <a:xfrm>
            <a:off x="502920" y="2542032"/>
            <a:ext cx="150876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" y="25511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IRFC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371600" y="2551176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+4.2%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194560" y="2542032"/>
            <a:ext cx="150876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35" name="Text 33"/>
          <p:cNvSpPr/>
          <p:nvPr/>
        </p:nvSpPr>
        <p:spPr>
          <a:xfrm>
            <a:off x="2267712" y="25511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POWERGRID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3063240" y="2551176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886200" y="2542032"/>
            <a:ext cx="150876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38" name="Text 36"/>
          <p:cNvSpPr/>
          <p:nvPr/>
        </p:nvSpPr>
        <p:spPr>
          <a:xfrm>
            <a:off x="3959352" y="25511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HDFCBANK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754880" y="2551176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577840" y="2542032"/>
            <a:ext cx="150876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41" name="Text 39"/>
          <p:cNvSpPr/>
          <p:nvPr/>
        </p:nvSpPr>
        <p:spPr>
          <a:xfrm>
            <a:off x="5650992" y="25511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COALINDIA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446520" y="2551176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-1.8%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269480" y="2542032"/>
            <a:ext cx="150876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44" name="Text 42"/>
          <p:cNvSpPr/>
          <p:nvPr/>
        </p:nvSpPr>
        <p:spPr>
          <a:xfrm>
            <a:off x="7342632" y="25511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ADANIENT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8138160" y="2551176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-2.4%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20040" y="3154680"/>
            <a:ext cx="4114800" cy="804672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57200" y="3319272"/>
            <a:ext cx="457200" cy="457200"/>
          </a:xfrm>
          <a:prstGeom prst="ellipse">
            <a:avLst/>
          </a:prstGeom>
          <a:solidFill>
            <a:srgbClr val="2E4DA7"/>
          </a:solidFill>
          <a:ln/>
        </p:spPr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3383280"/>
            <a:ext cx="329184" cy="329184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1051560" y="32004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Summary Cards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1051560" y="3502152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snapshot of STRONG BUY / BUY / HOLD / SELL / STRONG SELL counts + Avg AI Score at top of dashboard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4709160" y="3154680"/>
            <a:ext cx="4114800" cy="804672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846320" y="3319272"/>
            <a:ext cx="457200" cy="457200"/>
          </a:xfrm>
          <a:prstGeom prst="ellipse">
            <a:avLst/>
          </a:prstGeom>
          <a:solidFill>
            <a:srgbClr val="1A7A5E"/>
          </a:solidFill>
          <a:ln/>
        </p:spPr>
      </p:sp>
      <p:pic>
        <p:nvPicPr>
          <p:cNvPr id="5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3383280"/>
            <a:ext cx="329184" cy="329184"/>
          </a:xfrm>
          <a:prstGeom prst="rect">
            <a:avLst/>
          </a:prstGeom>
        </p:spPr>
      </p:pic>
      <p:sp>
        <p:nvSpPr>
          <p:cNvPr id="54" name="Text 50"/>
          <p:cNvSpPr/>
          <p:nvPr/>
        </p:nvSpPr>
        <p:spPr>
          <a:xfrm>
            <a:off x="5440680" y="32004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Movers Strip</a:t>
            </a:r>
            <a:endParaRPr lang="en-US" sz="1200" dirty="0"/>
          </a:p>
        </p:txBody>
      </p:sp>
      <p:sp>
        <p:nvSpPr>
          <p:cNvPr id="55" name="Text 51"/>
          <p:cNvSpPr/>
          <p:nvPr/>
        </p:nvSpPr>
        <p:spPr>
          <a:xfrm>
            <a:off x="5440680" y="3502152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pills showing biggest % movers always pinned above the signal grid — spot leaders instantly</a:t>
            </a:r>
            <a:endParaRPr lang="en-US" sz="950" dirty="0"/>
          </a:p>
        </p:txBody>
      </p:sp>
      <p:sp>
        <p:nvSpPr>
          <p:cNvPr id="56" name="Shape 52"/>
          <p:cNvSpPr/>
          <p:nvPr/>
        </p:nvSpPr>
        <p:spPr>
          <a:xfrm>
            <a:off x="320040" y="4069080"/>
            <a:ext cx="4114800" cy="804672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7" name="Shape 53"/>
          <p:cNvSpPr/>
          <p:nvPr/>
        </p:nvSpPr>
        <p:spPr>
          <a:xfrm>
            <a:off x="457200" y="4233672"/>
            <a:ext cx="457200" cy="457200"/>
          </a:xfrm>
          <a:prstGeom prst="ellipse">
            <a:avLst/>
          </a:prstGeom>
          <a:solidFill>
            <a:srgbClr val="6B3A9E"/>
          </a:solidFill>
          <a:ln/>
        </p:spPr>
      </p:sp>
      <p:pic>
        <p:nvPicPr>
          <p:cNvPr id="5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4297680"/>
            <a:ext cx="329184" cy="329184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1051560" y="41148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R:R Ratio Badge</a:t>
            </a:r>
            <a:endParaRPr lang="en-US" sz="1200" dirty="0"/>
          </a:p>
        </p:txBody>
      </p:sp>
      <p:sp>
        <p:nvSpPr>
          <p:cNvPr id="60" name="Text 55"/>
          <p:cNvSpPr/>
          <p:nvPr/>
        </p:nvSpPr>
        <p:spPr>
          <a:xfrm>
            <a:off x="1051560" y="4416552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stock card shows Risk:Reward ratio. Green badge ≥ 2:1 | Amber ≥ 1:1 | Red &lt; 1:1</a:t>
            </a:r>
            <a:endParaRPr lang="en-US" sz="950" dirty="0"/>
          </a:p>
        </p:txBody>
      </p:sp>
      <p:sp>
        <p:nvSpPr>
          <p:cNvPr id="61" name="Shape 56"/>
          <p:cNvSpPr/>
          <p:nvPr/>
        </p:nvSpPr>
        <p:spPr>
          <a:xfrm>
            <a:off x="4709160" y="4069080"/>
            <a:ext cx="4114800" cy="804672"/>
          </a:xfrm>
          <a:prstGeom prst="rect">
            <a:avLst/>
          </a:prstGeom>
          <a:solidFill>
            <a:srgbClr val="1A245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2" name="Shape 57"/>
          <p:cNvSpPr/>
          <p:nvPr/>
        </p:nvSpPr>
        <p:spPr>
          <a:xfrm>
            <a:off x="4846320" y="4233672"/>
            <a:ext cx="457200" cy="457200"/>
          </a:xfrm>
          <a:prstGeom prst="ellipse">
            <a:avLst/>
          </a:prstGeom>
          <a:solidFill>
            <a:srgbClr val="8B4A1A"/>
          </a:solidFill>
          <a:ln/>
        </p:spPr>
      </p:sp>
      <p:pic>
        <p:nvPicPr>
          <p:cNvPr id="6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4297680"/>
            <a:ext cx="329184" cy="329184"/>
          </a:xfrm>
          <a:prstGeom prst="rect">
            <a:avLst/>
          </a:prstGeom>
        </p:spPr>
      </p:pic>
      <p:sp>
        <p:nvSpPr>
          <p:cNvPr id="64" name="Text 58"/>
          <p:cNvSpPr/>
          <p:nvPr/>
        </p:nvSpPr>
        <p:spPr>
          <a:xfrm>
            <a:off x="5440680" y="41148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Timestamps</a:t>
            </a:r>
            <a:endParaRPr lang="en-US" sz="1200" dirty="0"/>
          </a:p>
        </p:txBody>
      </p:sp>
      <p:sp>
        <p:nvSpPr>
          <p:cNvPr id="65" name="Text 59"/>
          <p:cNvSpPr/>
          <p:nvPr/>
        </p:nvSpPr>
        <p:spPr>
          <a:xfrm>
            <a:off x="5440680" y="4416552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signal shows when it was last computed (IST) — know if you're looking at fresh or stale data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4008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Quality Fixes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1234440"/>
          </a:xfrm>
          <a:prstGeom prst="rect">
            <a:avLst/>
          </a:prstGeom>
          <a:solidFill>
            <a:srgbClr val="2A1020"/>
          </a:solidFill>
          <a:ln/>
          <a:effectLst>
            <a:outerShdw sx="100000" sy="100000" kx="0" ky="0" algn="bl" rotWithShape="0" blurRad="127000" dist="508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109728" cy="123444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896112"/>
            <a:ext cx="914400" cy="292608"/>
          </a:xfrm>
          <a:prstGeom prst="roundRect">
            <a:avLst>
              <a:gd name="adj" fmla="val 187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8961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 1</a:t>
            </a:r>
            <a:endParaRPr lang="en-US" sz="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0759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877824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 for BUY Signals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417320" y="122529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194560" y="122529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Breakout stocks were showing target price below current price — indicating a sell when signal was BUY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417320" y="15179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874520" y="15179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is now always capped to current_price * 1.02 minimum for BUY signals, ensuring target &gt; entry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94960" y="1225296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053328" y="122529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contradictory signal/target pairs confusing trade decisions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0040" y="2176272"/>
            <a:ext cx="8503920" cy="1234440"/>
          </a:xfrm>
          <a:prstGeom prst="rect">
            <a:avLst/>
          </a:prstGeom>
          <a:solidFill>
            <a:srgbClr val="201800"/>
          </a:solidFill>
          <a:ln/>
          <a:effectLst>
            <a:outerShdw sx="100000" sy="100000" kx="0" ky="0" algn="bl" rotWithShape="0" blurRad="127000" dist="508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20040" y="2176272"/>
            <a:ext cx="109728" cy="123444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9" name="Shape 16"/>
          <p:cNvSpPr/>
          <p:nvPr/>
        </p:nvSpPr>
        <p:spPr>
          <a:xfrm>
            <a:off x="548640" y="2267712"/>
            <a:ext cx="914400" cy="292608"/>
          </a:xfrm>
          <a:prstGeom prst="roundRect">
            <a:avLst>
              <a:gd name="adj" fmla="val 18750"/>
            </a:avLst>
          </a:prstGeom>
          <a:solidFill>
            <a:srgbClr val="F39C12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22677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 2</a:t>
            </a:r>
            <a:endParaRPr lang="en-US" sz="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9192"/>
            <a:ext cx="347472" cy="34747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417320" y="2249424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Ratio Formula Correction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1417320" y="259689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2194560" y="259689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formula: stock_return / nifty_return — inverted when NIFTY was negative, making weak stocks appear strong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1417320" y="28895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1874520" y="28895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to (1 + stock_return) / (1 + nifty_return) — handles negative benchmark correctly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5394960" y="2596896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6053328" y="259689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strength now accurately identifies outperformers vs the index in all market conditions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20040" y="3547872"/>
            <a:ext cx="8503920" cy="1234440"/>
          </a:xfrm>
          <a:prstGeom prst="rect">
            <a:avLst/>
          </a:prstGeom>
          <a:solidFill>
            <a:srgbClr val="001820"/>
          </a:solidFill>
          <a:ln/>
          <a:effectLst>
            <a:outerShdw sx="100000" sy="100000" kx="0" ky="0" algn="bl" rotWithShape="0" blurRad="127000" dist="508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320040" y="3547872"/>
            <a:ext cx="109728" cy="1234440"/>
          </a:xfrm>
          <a:prstGeom prst="rect">
            <a:avLst/>
          </a:prstGeom>
          <a:solidFill>
            <a:srgbClr val="3EC6E0"/>
          </a:solidFill>
          <a:ln/>
        </p:spPr>
      </p:sp>
      <p:sp>
        <p:nvSpPr>
          <p:cNvPr id="31" name="Shape 27"/>
          <p:cNvSpPr/>
          <p:nvPr/>
        </p:nvSpPr>
        <p:spPr>
          <a:xfrm>
            <a:off x="548640" y="3639312"/>
            <a:ext cx="914400" cy="292608"/>
          </a:xfrm>
          <a:prstGeom prst="roundRect">
            <a:avLst>
              <a:gd name="adj" fmla="val 18750"/>
            </a:avLst>
          </a:prstGeom>
          <a:solidFill>
            <a:srgbClr val="3EC6E0"/>
          </a:solidFill>
          <a:ln/>
        </p:spPr>
      </p:sp>
      <p:sp>
        <p:nvSpPr>
          <p:cNvPr id="32" name="Text 28"/>
          <p:cNvSpPr/>
          <p:nvPr/>
        </p:nvSpPr>
        <p:spPr>
          <a:xfrm>
            <a:off x="548640" y="36393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 3</a:t>
            </a:r>
            <a:endParaRPr lang="en-US" sz="80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050792"/>
            <a:ext cx="347472" cy="347472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417320" y="3621024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/ Resistance Selection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1417320" y="396849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2194560" y="396849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None bug: when pivot levels were empty, nearest support/resistance returned None — causing downstream crash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1417320" y="4261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endParaRPr lang="en-US" sz="1000" dirty="0"/>
          </a:p>
        </p:txBody>
      </p:sp>
      <p:sp>
        <p:nvSpPr>
          <p:cNvPr id="38" name="Text 33"/>
          <p:cNvSpPr/>
          <p:nvPr/>
        </p:nvSpPr>
        <p:spPr>
          <a:xfrm>
            <a:off x="1874520" y="42611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None guard with fallback to current price ± ATR when no pivot levels are available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5394960" y="3968496"/>
            <a:ext cx="658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6053328" y="396849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Stop-loss and target calculations now always return valid prices — no more silent failures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320040" y="4663440"/>
            <a:ext cx="8503920" cy="365760"/>
          </a:xfrm>
          <a:prstGeom prst="rect">
            <a:avLst/>
          </a:prstGeom>
          <a:solidFill>
            <a:srgbClr val="141B3D"/>
          </a:solidFill>
          <a:ln/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718304"/>
            <a:ext cx="246888" cy="246888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822960" y="4663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EC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fixes ship in the same release — more accurate signals = better trade decisions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Trading Assistant</dc:title>
  <dc:subject>PptxGenJS Presentation</dc:subject>
  <dc:creator>Arya Kirti Singh</dc:creator>
  <cp:lastModifiedBy>Arya Kirti Singh</cp:lastModifiedBy>
  <cp:revision>1</cp:revision>
  <dcterms:created xsi:type="dcterms:W3CDTF">2026-04-12T11:38:54Z</dcterms:created>
  <dcterms:modified xsi:type="dcterms:W3CDTF">2026-04-12T11:38:54Z</dcterms:modified>
</cp:coreProperties>
</file>