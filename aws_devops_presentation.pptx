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TALK  /  APR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DevOps in Action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production-grade CI/CD pipeline with CodePipeline, CodeBuild, and CodeDeploy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4389120"/>
            <a:ext cx="13716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Singh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intraday_trading — a serverless trading analytics platform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DevOps? The Three Pillars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path from code → production, safely and repeatably.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73152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automation, every deploy means manual terraform apply, manual S3 sync, manual CloudFront invalidation — slow, error-prone, no safety net, and no audit trail.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345643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560320"/>
            <a:ext cx="3456432" cy="1097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FIRES WHEN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CodePipeline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4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4069080"/>
            <a:ext cx="548640" cy="2743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2519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GitHub → Build → Deploy. Defines stages, gates, and artifact flow. The conductor of the symphony.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61688" y="2560320"/>
            <a:ext cx="345643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61688" y="2560320"/>
            <a:ext cx="3456432" cy="1097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6008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YOUR CODE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36008" y="3063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CodeBuild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36008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4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36008" y="4069080"/>
            <a:ext cx="548640" cy="2743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36008" y="42519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commands in ephemeral Linux containers — compiles, tests, plans Terraform, publishes artifacts. The muscle.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75320" y="2560320"/>
            <a:ext cx="345643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75320" y="2560320"/>
            <a:ext cx="3456432" cy="1097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49640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SAFELY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49640" y="3063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CodeDeploy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549640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4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 Lander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549640" y="4069080"/>
            <a:ext cx="548640" cy="2743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9640" y="42519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Lambda traffic gradually, watches CloudWatch alarms, auto-rollbacks on errors. The parachute.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DevOps  |  Intraday Trading Platform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Pipelines, One Repo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Path-based routing: infra and frontend changes have different risk profiles — they deserve different pipelines.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937760" y="155448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937760" y="1554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main branch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93776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CodeStar Connection  ▼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80760" y="2514600"/>
            <a:ext cx="-3200400" cy="411480"/>
          </a:xfrm>
          <a:prstGeom prst="line">
            <a:avLst/>
          </a:prstGeom>
          <a:noFill/>
          <a:ln w="25400">
            <a:solidFill>
              <a:srgbClr val="8A96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80760" y="2514600"/>
            <a:ext cx="3200400" cy="411480"/>
          </a:xfrm>
          <a:prstGeom prst="line">
            <a:avLst/>
          </a:prstGeom>
          <a:noFill/>
          <a:ln w="25400">
            <a:solidFill>
              <a:srgbClr val="8A96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926080"/>
            <a:ext cx="56235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926080"/>
            <a:ext cx="91440" cy="3383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0175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trading-infra-pipeline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" y="34564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on: infrastructure/**, lambdas/**, backend/**, prompts/**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3950208"/>
            <a:ext cx="109728" cy="10972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840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pull from GitHub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4389120"/>
            <a:ext cx="109728" cy="10972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2793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BuildLayers  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cross-compile Python deps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8680" y="4828032"/>
            <a:ext cx="109728" cy="10972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7183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TerraformPlan  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diff against AWS state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8680" y="5266944"/>
            <a:ext cx="109728" cy="10972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515721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Approval  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SNS email gate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68680" y="5705856"/>
            <a:ext cx="109728" cy="10972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55961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TerraformApply  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apply + CodeDeploy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2926080"/>
            <a:ext cx="54864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3640" y="2926080"/>
            <a:ext cx="91440" cy="3383280"/>
          </a:xfrm>
          <a:prstGeom prst="rect">
            <a:avLst/>
          </a:prstGeom>
          <a:solidFill>
            <a:srgbClr val="146EB4"/>
          </a:solidFill>
          <a:ln w="12700">
            <a:solidFill>
              <a:srgbClr val="146EB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3017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trading-frontend-pipeline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537960" y="34564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on: frontend/**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75120" y="3950208"/>
            <a:ext cx="109728" cy="109728"/>
          </a:xfrm>
          <a:prstGeom prst="ellipse">
            <a:avLst/>
          </a:prstGeom>
          <a:solidFill>
            <a:srgbClr val="146EB4"/>
          </a:solidFill>
          <a:ln w="12700">
            <a:solidFill>
              <a:srgbClr val="146E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38404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pull from GitHub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75120" y="4389120"/>
            <a:ext cx="109728" cy="109728"/>
          </a:xfrm>
          <a:prstGeom prst="ellipse">
            <a:avLst/>
          </a:prstGeom>
          <a:solidFill>
            <a:srgbClr val="146EB4"/>
          </a:solidFill>
          <a:ln w="12700">
            <a:solidFill>
              <a:srgbClr val="146EB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427939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 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sync to S3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03720" y="47548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 Cache-control headers by file type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03720" y="50292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 CloudFront invalidation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37960" y="5715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D9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path — no approval gate needed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DevOps  |  Intraday Trading Platform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CodeBuild — The Four Stages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runs in an ephemeral container. Artifacts flow through S3 — stages are decoupled and independently retryable.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770632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91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BuildLayers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•  4 vCPU  •  ~8 min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457200" cy="2743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9184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Cross-compiles Python packages for Lambda's Linux x86_64 runtime. Cannot be done on a Mac — binaries must match.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5257800"/>
            <a:ext cx="2404872" cy="54864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525780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cache in S3  →  ~6 min saved on re-runs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27832" y="356616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</a:rPr>
              <a:t>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92424" y="1554480"/>
            <a:ext cx="2770632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75304" y="1691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575304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TerraformPlan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75304" y="2788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 •  2 vCPU  •  ~3 min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75304" y="3154680"/>
            <a:ext cx="457200" cy="2743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75304" y="329184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terraform plan against S3-backed state. Produces a binary tfplan diff — exactly what will change in AWS.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75304" y="5257800"/>
            <a:ext cx="2404872" cy="54864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21024" y="525780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changes applied yet — safe to review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63056" y="356616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</a:rPr>
              <a:t>▶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27648" y="1554480"/>
            <a:ext cx="2770632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0528" y="1691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510528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10528" y="2788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 •  SNS email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10528" y="3154680"/>
            <a:ext cx="457200" cy="2743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0528" y="329184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pauses. Reviewer checks the plan output in CloudWatch logs, then approves or rejects.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10528" y="5257800"/>
            <a:ext cx="2404872" cy="54864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56248" y="525780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safety net for production infra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098280" y="356616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</a:rPr>
              <a:t>▶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262872" y="1554480"/>
            <a:ext cx="2770632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445752" y="1691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9445752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TerraformApply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445752" y="2788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 •  2 vCPU  •  ~5 min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445752" y="3154680"/>
            <a:ext cx="457200" cy="2743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45752" y="329184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the exact tfplan from stage 2 — no drift. Publishes Lambda versions and triggers CodeDeploy.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445752" y="5257800"/>
            <a:ext cx="2404872" cy="54864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91472" y="525780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Exits by handing off to CodeDeploy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6080760"/>
            <a:ext cx="11274552" cy="41148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60807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artifacts decouple stages. If apply fails, the plan artifact is still there — retry without rebuilding.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DevOps  |  Intraday Trading Platform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CodeDeploy — The Safety Net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traffic shifting + CloudWatch alarms = automatic rollback when bad code reaches production.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SHIFT OVER TIME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760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 —  stocks-signal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→ new version for 5 min → 100% shift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539496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743200"/>
            <a:ext cx="539496" cy="457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43200"/>
            <a:ext cx="539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79576" y="2743200"/>
            <a:ext cx="485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old version (watching)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D9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feedback  •  Low blast radius  •  5-min bake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5760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 —  options-analysis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+10% every 1 min → full shift over 10 minutes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539496" cy="457200"/>
          </a:xfrm>
          <a:prstGeom prst="rect">
            <a:avLst/>
          </a:prstGeom>
          <a:solidFill>
            <a:srgbClr val="146EB4">
              <a:alpha val="20000"/>
            </a:srgbClr>
          </a:solidFill>
          <a:ln w="12700">
            <a:solidFill>
              <a:srgbClr val="146EB4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79576" y="4892040"/>
            <a:ext cx="539496" cy="457200"/>
          </a:xfrm>
          <a:prstGeom prst="rect">
            <a:avLst/>
          </a:prstGeom>
          <a:solidFill>
            <a:srgbClr val="146EB4">
              <a:alpha val="28000"/>
            </a:srgbClr>
          </a:solidFill>
          <a:ln w="12700">
            <a:solidFill>
              <a:srgbClr val="146EB4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19072" y="4892040"/>
            <a:ext cx="539496" cy="457200"/>
          </a:xfrm>
          <a:prstGeom prst="rect">
            <a:avLst/>
          </a:prstGeom>
          <a:solidFill>
            <a:srgbClr val="146EB4">
              <a:alpha val="36000"/>
            </a:srgbClr>
          </a:solidFill>
          <a:ln w="12700">
            <a:solidFill>
              <a:srgbClr val="146EB4">
                <a:alpha val="3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58568" y="4892040"/>
            <a:ext cx="539496" cy="457200"/>
          </a:xfrm>
          <a:prstGeom prst="rect">
            <a:avLst/>
          </a:prstGeom>
          <a:solidFill>
            <a:srgbClr val="146EB4">
              <a:alpha val="44000"/>
            </a:srgbClr>
          </a:solidFill>
          <a:ln w="12700">
            <a:solidFill>
              <a:srgbClr val="146EB4">
                <a:alpha val="4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98064" y="4892040"/>
            <a:ext cx="539496" cy="457200"/>
          </a:xfrm>
          <a:prstGeom prst="rect">
            <a:avLst/>
          </a:prstGeom>
          <a:solidFill>
            <a:srgbClr val="146EB4">
              <a:alpha val="52000"/>
            </a:srgbClr>
          </a:solidFill>
          <a:ln w="12700">
            <a:solidFill>
              <a:srgbClr val="146EB4">
                <a:alpha val="5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4892040"/>
            <a:ext cx="539496" cy="457200"/>
          </a:xfrm>
          <a:prstGeom prst="rect">
            <a:avLst/>
          </a:prstGeom>
          <a:solidFill>
            <a:srgbClr val="146EB4">
              <a:alpha val="60000"/>
            </a:srgbClr>
          </a:solidFill>
          <a:ln w="12700">
            <a:solidFill>
              <a:srgbClr val="146EB4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77056" y="4892040"/>
            <a:ext cx="539496" cy="457200"/>
          </a:xfrm>
          <a:prstGeom prst="rect">
            <a:avLst/>
          </a:prstGeom>
          <a:solidFill>
            <a:srgbClr val="146EB4">
              <a:alpha val="68000"/>
            </a:srgbClr>
          </a:solidFill>
          <a:ln w="12700">
            <a:solidFill>
              <a:srgbClr val="146EB4">
                <a:alpha val="6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16552" y="4892040"/>
            <a:ext cx="539496" cy="457200"/>
          </a:xfrm>
          <a:prstGeom prst="rect">
            <a:avLst/>
          </a:prstGeom>
          <a:solidFill>
            <a:srgbClr val="146EB4">
              <a:alpha val="76000"/>
            </a:srgbClr>
          </a:solidFill>
          <a:ln w="12700">
            <a:solidFill>
              <a:srgbClr val="146EB4">
                <a:alpha val="7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56048" y="4892040"/>
            <a:ext cx="539496" cy="457200"/>
          </a:xfrm>
          <a:prstGeom prst="rect">
            <a:avLst/>
          </a:prstGeom>
          <a:solidFill>
            <a:srgbClr val="146EB4">
              <a:alpha val="84000"/>
            </a:srgbClr>
          </a:solidFill>
          <a:ln w="12700">
            <a:solidFill>
              <a:srgbClr val="146EB4">
                <a:alpha val="8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95544" y="4892040"/>
            <a:ext cx="539496" cy="457200"/>
          </a:xfrm>
          <a:prstGeom prst="rect">
            <a:avLst/>
          </a:prstGeom>
          <a:solidFill>
            <a:srgbClr val="146EB4">
              <a:alpha val="92000"/>
            </a:srgbClr>
          </a:solidFill>
          <a:ln w="12700">
            <a:solidFill>
              <a:srgbClr val="146EB4">
                <a:alpha val="92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486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D9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rollout  •  More observation time  •  Less aggressive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14630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ROLLBACK FLOW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1874520"/>
            <a:ext cx="502920" cy="502920"/>
          </a:xfrm>
          <a:prstGeom prst="ellipse">
            <a:avLst/>
          </a:prstGeom>
          <a:solidFill>
            <a:srgbClr val="146EB4"/>
          </a:solidFill>
          <a:ln w="12700">
            <a:solidFill>
              <a:srgbClr val="146EB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40880" y="18562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begins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40880" y="2148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version gets traffic slice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0" y="2743200"/>
            <a:ext cx="502920" cy="502920"/>
          </a:xfrm>
          <a:prstGeom prst="ellipse">
            <a:avLst/>
          </a:prstGeom>
          <a:solidFill>
            <a:srgbClr val="146EB4"/>
          </a:solidFill>
          <a:ln w="12700">
            <a:solidFill>
              <a:srgbClr val="146EB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40880" y="27249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watches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040880" y="3017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Errors metric, 1-min windows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0" y="3611880"/>
            <a:ext cx="502920" cy="50292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40880" y="35935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exceeded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040880" y="3886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&gt; 3 errors in 2 periods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0" y="4480560"/>
            <a:ext cx="502920" cy="50292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040880" y="44622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fires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040880" y="4754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→ CodeDeploy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0800" y="5349240"/>
            <a:ext cx="502920" cy="502920"/>
          </a:xfrm>
          <a:prstGeom prst="ellipse">
            <a:avLst/>
          </a:prstGeom>
          <a:solidFill>
            <a:srgbClr val="2D9B69"/>
          </a:solidFill>
          <a:ln w="12700">
            <a:solidFill>
              <a:srgbClr val="2D9B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040880" y="53309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Auto-rollback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040880" y="5623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traffic returns to old version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DevOps  |  Intraday Trading Platform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Architecture Wins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611880" cy="2148840"/>
          </a:xfrm>
          <a:prstGeom prst="rect">
            <a:avLst/>
          </a:prstGeom>
          <a:solidFill>
            <a:srgbClr val="2D3E52"/>
          </a:solidFill>
          <a:ln w="12700">
            <a:solidFill>
              <a:srgbClr val="3A4E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73152" cy="21488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63040" y="20116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Reliable Triggers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pipelines use EventBridge with path filters — infra changes don't retrigger frontend, and vice versa.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3611880" cy="2148840"/>
          </a:xfrm>
          <a:prstGeom prst="rect">
            <a:avLst/>
          </a:prstGeom>
          <a:solidFill>
            <a:srgbClr val="2D3E52"/>
          </a:solidFill>
          <a:ln w="12700">
            <a:solidFill>
              <a:srgbClr val="3A4E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828800"/>
            <a:ext cx="73152" cy="21488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965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212080" y="20116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First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260604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approval gate on infra. Canary deployments on critical Lambdas. Auto-rollback on CloudWatch alarms.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611880" cy="2148840"/>
          </a:xfrm>
          <a:prstGeom prst="rect">
            <a:avLst/>
          </a:prstGeom>
          <a:solidFill>
            <a:srgbClr val="2D3E52"/>
          </a:solidFill>
          <a:ln w="12700">
            <a:solidFill>
              <a:srgbClr val="3A4E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828800"/>
            <a:ext cx="73152" cy="21488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965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961120" y="20116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Repeatable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66760" y="260604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Terraform — the pipeline defines itself. Destroy &amp; recreate the entire stack from git.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160520"/>
            <a:ext cx="3611880" cy="2148840"/>
          </a:xfrm>
          <a:prstGeom prst="rect">
            <a:avLst/>
          </a:prstGeom>
          <a:solidFill>
            <a:srgbClr val="2D3E52"/>
          </a:solidFill>
          <a:ln w="12700">
            <a:solidFill>
              <a:srgbClr val="3A4E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160520"/>
            <a:ext cx="73152" cy="21488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297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463040" y="4343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8680" y="493776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separate IAM roles — CodePipeline, CodeBuild, CodeDeploy. Compromise of one doesn't cascade.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89120" y="4160520"/>
            <a:ext cx="3611880" cy="2148840"/>
          </a:xfrm>
          <a:prstGeom prst="rect">
            <a:avLst/>
          </a:prstGeom>
          <a:solidFill>
            <a:srgbClr val="2D3E52"/>
          </a:solidFill>
          <a:ln w="12700">
            <a:solidFill>
              <a:srgbClr val="3A4E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0" y="4160520"/>
            <a:ext cx="73152" cy="21488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4297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212080" y="4343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17720" y="493776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pay-per-minute pricing: ~$0.70/month for our usage vs $2/month flat on V1. Pipelines pay for what they do.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38160" y="4160520"/>
            <a:ext cx="3611880" cy="2148840"/>
          </a:xfrm>
          <a:prstGeom prst="rect">
            <a:avLst/>
          </a:prstGeom>
          <a:solidFill>
            <a:srgbClr val="2D3E52"/>
          </a:solidFill>
          <a:ln w="12700">
            <a:solidFill>
              <a:srgbClr val="3A4E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0" y="4160520"/>
            <a:ext cx="73152" cy="21488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0" y="4297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👀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8961120" y="4343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66760" y="493776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logs per build. SNS notifications on approval. X-Ray traces on Lambdas. Everything is visible.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git push to production, safely — in under 20 minutes.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DevOps — CodePipeline, CodeBuild, CodeDeploy</dc:title>
  <dc:subject>PptxGenJS Presentation</dc:subject>
  <dc:creator>Arya Singh</dc:creator>
  <cp:lastModifiedBy>Arya Singh</cp:lastModifiedBy>
  <cp:revision>1</cp:revision>
  <dcterms:created xsi:type="dcterms:W3CDTF">2026-04-20T07:57:18Z</dcterms:created>
  <dcterms:modified xsi:type="dcterms:W3CDTF">2026-04-20T07:57:18Z</dcterms:modified>
</cp:coreProperties>
</file>